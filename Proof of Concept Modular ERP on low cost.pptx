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8276-4831-4302-93EF-049F1ADFC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B5C6F-97A7-4D62-1E0E-0DD7785E7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1103E-99C7-4D91-8754-539D4394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595B9-1D32-546D-5339-1A1AE873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1505D-7F02-1366-9D8E-99C8FE4A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02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93C6-DAC0-A16C-0F12-99274CBE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C9522-B4E5-6F81-B91D-12E4D8A47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2770-3D41-FBB4-0FDB-EFC92CAB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B61A4-F5CF-F2E7-372A-CE4E1B1C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7C557-280C-5A03-EB96-C1737777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58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5CDC-C9E5-3161-50E0-1533A7E3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F7D6B-4F48-8A46-D147-871AEA9B1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42335-BF6E-25E7-4341-F3317337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AC58D-12AE-293A-B28C-9EE28631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83D28-1E51-5A60-25C5-8820D554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96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3071-53ED-B2C3-5A4F-C8E89D26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DDFEC-96C5-6F2C-8D73-A485F4704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561B1-DD6C-E945-ABBD-2492549A1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C40BA-0543-D083-393D-5C5B85B7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8180E-26D9-6FB7-86C3-1AB4D8FA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C35D5-E3B6-D13E-E613-3122CA11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87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E0C1-2BA4-23E7-9A7F-3C1B83B7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9FB49-EA69-9EF7-A65B-784DE8126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3C914-B3E7-F4F6-74D6-09B9231A4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D9629-244A-A667-6EBC-DE1C2E54C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23B2A-2CAE-CBC4-EBA0-CD7E4C5F2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67B20-FF1D-3B6F-7884-755C59F5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72567-5153-261F-BD17-8C319DDE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FF5C5-9B66-1498-F3BB-8C6FBDD1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61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6144-B56A-66CD-5FD7-9B35F40C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B3C14-7113-6B6A-82FD-AE37ECB7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BB354-2214-3B74-4365-AA91D61D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AF577-FA5F-2673-A411-150FCF44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02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FD6FF-2346-4BFA-E482-0229AE6F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F5AD9-D795-862B-1412-CEAA906A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11419-8A0B-B751-38D5-97B79C27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84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BD3F-7C8B-73EF-B239-50DF2029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56B4-C6CF-99DC-18A6-2B1B3625D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D1F36-16C3-1E1C-382F-7975BC8B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FAF8C-2C55-B246-B774-A53462E5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F4552-9FA6-6CF8-A30C-3F5B12B7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E7225-8AF3-E1CE-F938-03D51654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39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A5385-3817-BD3B-9D84-9937501C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1B349-A566-599B-7319-10668F9BE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78B7B-9A5C-492F-B36B-C5CDE5451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42E79-ADAB-6893-E8D7-F53E3EDFB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BA483-3DD2-4114-925B-D4F24FFB8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92C3A-8565-7747-7FA6-F34D7F85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5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519D-9D41-9EA0-5F14-6FC3D6ED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2C5E7-7623-D90B-B7C0-15F8A6FCD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39FB9-D7D1-7CD5-2BA7-FCB5D355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BADE1-B932-3F95-4A0A-AD98AB31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A27E9-51F4-5509-5FC1-B40D5106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0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081FE8-16EA-A8E3-3204-F4B6F5299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3BFE0-3EBF-9B64-2B0F-BDBC84F8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E4428-43B5-6ED7-0BCE-AA4FD451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CAA8F-C933-59B4-06F0-17D15A31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B4B6-5134-DAA6-7A6A-30ABDA53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20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C6B91-5DF3-CECB-F503-1FCB1540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84D31-2327-4408-2B10-C2D6853F4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1028C-62DA-1A28-ECCA-33DE865FE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74E08-71B6-4804-A6B8-6EF04578B34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F49B7-B428-30EF-DA92-8AB83B2A6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56942-E5F0-AE61-A2F1-85C459FBE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18E33-53E7-4C50-8E1C-98B0D8D21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91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E6A2-7C86-73ED-551D-FAF4ABAC9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of Concept Modular ERP on low cost and low power devices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78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9CD2-275E-1969-1F21-167CEF04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berpikir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3173-70CC-CBE8-E529-55918CE38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UMKM </a:t>
            </a:r>
            <a:r>
              <a:rPr lang="en-US" sz="2000" dirty="0" err="1"/>
              <a:t>mendorong</a:t>
            </a:r>
            <a:r>
              <a:rPr lang="en-US" sz="2000" dirty="0"/>
              <a:t> </a:t>
            </a:r>
            <a:r>
              <a:rPr lang="en-US" sz="2000" dirty="0" err="1"/>
              <a:t>ekonomi</a:t>
            </a:r>
            <a:r>
              <a:rPr lang="en-US" sz="2000" dirty="0"/>
              <a:t> Indonesia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Alasan UMKM </a:t>
            </a:r>
            <a:r>
              <a:rPr lang="en-GB" sz="2000" dirty="0" err="1"/>
              <a:t>mati</a:t>
            </a:r>
            <a:r>
              <a:rPr lang="en-GB" sz="2000" dirty="0"/>
              <a:t> </a:t>
            </a:r>
            <a:r>
              <a:rPr lang="en-GB" sz="2000" dirty="0" err="1"/>
              <a:t>manajemen</a:t>
            </a:r>
            <a:r>
              <a:rPr lang="en-GB" sz="2000" dirty="0"/>
              <a:t> </a:t>
            </a:r>
            <a:r>
              <a:rPr lang="en-GB" sz="2000" dirty="0" err="1"/>
              <a:t>keuangan</a:t>
            </a:r>
            <a:r>
              <a:rPr lang="en-GB" sz="2000" dirty="0"/>
              <a:t> yang </a:t>
            </a:r>
            <a:r>
              <a:rPr lang="en-GB" sz="2000" dirty="0" err="1"/>
              <a:t>buruk</a:t>
            </a:r>
            <a:r>
              <a:rPr lang="en-GB" sz="2000" dirty="0"/>
              <a:t>, </a:t>
            </a:r>
            <a:r>
              <a:rPr lang="en-GB" sz="2000" dirty="0" err="1"/>
              <a:t>ketidakefisienan</a:t>
            </a:r>
            <a:r>
              <a:rPr lang="en-GB" sz="2000" dirty="0"/>
              <a:t> </a:t>
            </a:r>
            <a:r>
              <a:rPr lang="en-GB" sz="2000" dirty="0" err="1"/>
              <a:t>operasional</a:t>
            </a:r>
            <a:r>
              <a:rPr lang="en-GB" sz="2000" dirty="0"/>
              <a:t>, </a:t>
            </a:r>
            <a:r>
              <a:rPr lang="en-GB" sz="2000" dirty="0" err="1"/>
              <a:t>lemahnya</a:t>
            </a:r>
            <a:r>
              <a:rPr lang="en-GB" sz="2000" dirty="0"/>
              <a:t> </a:t>
            </a:r>
            <a:r>
              <a:rPr lang="en-GB" sz="2000" dirty="0" err="1"/>
              <a:t>kontrol</a:t>
            </a:r>
            <a:r>
              <a:rPr lang="en-GB" sz="2000" dirty="0"/>
              <a:t> </a:t>
            </a:r>
            <a:r>
              <a:rPr lang="en-GB" sz="2000" dirty="0" err="1"/>
              <a:t>inventaris</a:t>
            </a:r>
            <a:r>
              <a:rPr lang="en-GB" sz="2000" dirty="0"/>
              <a:t>, </a:t>
            </a:r>
            <a:r>
              <a:rPr lang="en-GB" sz="2000" dirty="0" err="1"/>
              <a:t>sulitnya</a:t>
            </a:r>
            <a:r>
              <a:rPr lang="en-GB" sz="2000" dirty="0"/>
              <a:t> </a:t>
            </a:r>
            <a:r>
              <a:rPr lang="en-GB" sz="2000" dirty="0" err="1"/>
              <a:t>pemantauan</a:t>
            </a:r>
            <a:r>
              <a:rPr lang="en-GB" sz="2000" dirty="0"/>
              <a:t> </a:t>
            </a:r>
            <a:r>
              <a:rPr lang="en-GB" sz="2000" dirty="0" err="1"/>
              <a:t>penjualan</a:t>
            </a:r>
            <a:r>
              <a:rPr lang="en-GB" sz="2000" dirty="0"/>
              <a:t>/</a:t>
            </a:r>
            <a:r>
              <a:rPr lang="en-GB" sz="2000" dirty="0" err="1"/>
              <a:t>pelanggan</a:t>
            </a:r>
            <a:r>
              <a:rPr lang="en-GB" sz="2000" dirty="0"/>
              <a:t>, dan </a:t>
            </a:r>
            <a:r>
              <a:rPr lang="en-GB" sz="2000" dirty="0" err="1"/>
              <a:t>keputusan</a:t>
            </a:r>
            <a:r>
              <a:rPr lang="en-GB" sz="2000" dirty="0"/>
              <a:t> </a:t>
            </a:r>
            <a:r>
              <a:rPr lang="en-GB" sz="2000" dirty="0" err="1"/>
              <a:t>bisnis</a:t>
            </a:r>
            <a:r>
              <a:rPr lang="en-GB" sz="2000" dirty="0"/>
              <a:t> yang </a:t>
            </a:r>
            <a:r>
              <a:rPr lang="en-GB" sz="2000" dirty="0" err="1"/>
              <a:t>tidak</a:t>
            </a:r>
            <a:r>
              <a:rPr lang="en-GB" sz="2000" dirty="0"/>
              <a:t> </a:t>
            </a:r>
            <a:r>
              <a:rPr lang="en-GB" sz="2000" dirty="0" err="1"/>
              <a:t>berbasis</a:t>
            </a:r>
            <a:r>
              <a:rPr lang="en-GB" sz="2000" dirty="0"/>
              <a:t> data. </a:t>
            </a:r>
            <a:r>
              <a:rPr lang="en-GB" sz="2000" dirty="0" err="1"/>
              <a:t>Semua</a:t>
            </a:r>
            <a:r>
              <a:rPr lang="en-GB" sz="2000" dirty="0"/>
              <a:t> </a:t>
            </a:r>
            <a:r>
              <a:rPr lang="en-GB" sz="2000" dirty="0" err="1"/>
              <a:t>ini</a:t>
            </a:r>
            <a:r>
              <a:rPr lang="en-GB" sz="2000" dirty="0"/>
              <a:t> </a:t>
            </a:r>
            <a:r>
              <a:rPr lang="en-GB" sz="2000" dirty="0" err="1"/>
              <a:t>bisa</a:t>
            </a:r>
            <a:r>
              <a:rPr lang="en-GB" sz="2000" dirty="0"/>
              <a:t> </a:t>
            </a:r>
            <a:r>
              <a:rPr lang="en-GB" sz="2000" dirty="0" err="1"/>
              <a:t>dicegah</a:t>
            </a:r>
            <a:r>
              <a:rPr lang="en-GB" sz="2000" dirty="0"/>
              <a:t>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digitlisasi</a:t>
            </a:r>
            <a:r>
              <a:rPr lang="en-GB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Alasan </a:t>
            </a:r>
            <a:r>
              <a:rPr lang="en-GB" sz="2000" dirty="0" err="1"/>
              <a:t>tidak</a:t>
            </a:r>
            <a:r>
              <a:rPr lang="en-GB" sz="2000" dirty="0"/>
              <a:t> </a:t>
            </a:r>
            <a:r>
              <a:rPr lang="en-GB" sz="2000" dirty="0" err="1"/>
              <a:t>ingin</a:t>
            </a:r>
            <a:r>
              <a:rPr lang="en-GB" sz="2000" dirty="0"/>
              <a:t> </a:t>
            </a:r>
            <a:r>
              <a:rPr lang="en-GB" sz="2000" dirty="0" err="1"/>
              <a:t>atau</a:t>
            </a:r>
            <a:r>
              <a:rPr lang="en-GB" sz="2000" dirty="0"/>
              <a:t> </a:t>
            </a:r>
            <a:r>
              <a:rPr lang="en-GB" sz="2000" dirty="0" err="1"/>
              <a:t>kesulitan</a:t>
            </a:r>
            <a:r>
              <a:rPr lang="en-GB" sz="2000" dirty="0"/>
              <a:t> </a:t>
            </a:r>
            <a:r>
              <a:rPr lang="en-GB" sz="2000" dirty="0" err="1"/>
              <a:t>digitalisasi</a:t>
            </a:r>
            <a:r>
              <a:rPr lang="en-GB" sz="2000" dirty="0"/>
              <a:t> </a:t>
            </a:r>
            <a:r>
              <a:rPr lang="en-GB" sz="2000" dirty="0" err="1"/>
              <a:t>antara</a:t>
            </a:r>
            <a:r>
              <a:rPr lang="en-GB" sz="2000" dirty="0"/>
              <a:t> </a:t>
            </a:r>
            <a:r>
              <a:rPr lang="en-GB" sz="2000" dirty="0" err="1"/>
              <a:t>kekurangan</a:t>
            </a:r>
            <a:r>
              <a:rPr lang="en-GB" sz="2000" dirty="0"/>
              <a:t> </a:t>
            </a:r>
            <a:r>
              <a:rPr lang="en-GB" sz="2000" dirty="0" err="1"/>
              <a:t>biaya</a:t>
            </a:r>
            <a:r>
              <a:rPr lang="en-GB" sz="2000" dirty="0"/>
              <a:t> dan </a:t>
            </a:r>
            <a:r>
              <a:rPr lang="en-GB" sz="2000" dirty="0" err="1"/>
              <a:t>kesulitan</a:t>
            </a:r>
            <a:r>
              <a:rPr lang="en-GB" sz="2000" dirty="0"/>
              <a:t> </a:t>
            </a:r>
            <a:r>
              <a:rPr lang="en-GB" sz="2000" dirty="0" err="1"/>
              <a:t>atau</a:t>
            </a:r>
            <a:r>
              <a:rPr lang="en-GB" sz="2000" dirty="0"/>
              <a:t> </a:t>
            </a:r>
            <a:r>
              <a:rPr lang="en-GB" sz="2000" dirty="0" err="1"/>
              <a:t>sudah</a:t>
            </a:r>
            <a:r>
              <a:rPr lang="en-GB" sz="2000" dirty="0"/>
              <a:t> </a:t>
            </a:r>
            <a:r>
              <a:rPr lang="en-GB" sz="2000" dirty="0" err="1"/>
              <a:t>nyaman</a:t>
            </a:r>
            <a:r>
              <a:rPr lang="en-GB" sz="2000" dirty="0"/>
              <a:t>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sistem</a:t>
            </a:r>
            <a:r>
              <a:rPr lang="en-GB" sz="2000" dirty="0"/>
              <a:t> yang </a:t>
            </a:r>
            <a:r>
              <a:rPr lang="en-GB" sz="2000" dirty="0" err="1"/>
              <a:t>digunakan</a:t>
            </a:r>
            <a:r>
              <a:rPr lang="en-GB" sz="2000" dirty="0"/>
              <a:t> </a:t>
            </a:r>
            <a:r>
              <a:rPr lang="en-GB" sz="2000" dirty="0" err="1"/>
              <a:t>sekarang</a:t>
            </a:r>
            <a:endParaRPr lang="en-GB" sz="2000" dirty="0"/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ERP yang </a:t>
            </a:r>
            <a:r>
              <a:rPr lang="en-GB" sz="2000" dirty="0" err="1"/>
              <a:t>ada</a:t>
            </a:r>
            <a:r>
              <a:rPr lang="en-GB" sz="2000" dirty="0"/>
              <a:t> </a:t>
            </a:r>
            <a:r>
              <a:rPr lang="en-GB" sz="2000" dirty="0" err="1"/>
              <a:t>saat</a:t>
            </a:r>
            <a:r>
              <a:rPr lang="en-GB" sz="2000" dirty="0"/>
              <a:t> </a:t>
            </a:r>
            <a:r>
              <a:rPr lang="en-GB" sz="2000" dirty="0" err="1"/>
              <a:t>ini</a:t>
            </a:r>
            <a:r>
              <a:rPr lang="en-GB" sz="2000" dirty="0"/>
              <a:t>, </a:t>
            </a:r>
            <a:r>
              <a:rPr lang="en-GB" sz="2000" dirty="0" err="1"/>
              <a:t>memiliki</a:t>
            </a:r>
            <a:r>
              <a:rPr lang="en-GB" sz="2000" dirty="0"/>
              <a:t> </a:t>
            </a:r>
            <a:r>
              <a:rPr lang="en-GB" sz="2000" dirty="0" err="1"/>
              <a:t>kompleksitas</a:t>
            </a:r>
            <a:r>
              <a:rPr lang="en-GB" sz="2000" dirty="0"/>
              <a:t> yang </a:t>
            </a:r>
            <a:r>
              <a:rPr lang="en-GB" sz="2000" dirty="0" err="1"/>
              <a:t>cukup</a:t>
            </a:r>
            <a:r>
              <a:rPr lang="en-GB" sz="2000" dirty="0"/>
              <a:t> </a:t>
            </a:r>
            <a:r>
              <a:rPr lang="en-GB" sz="2000" dirty="0" err="1"/>
              <a:t>tinggi</a:t>
            </a:r>
            <a:r>
              <a:rPr lang="en-GB" sz="2000" dirty="0"/>
              <a:t>, mahal di </a:t>
            </a:r>
            <a:r>
              <a:rPr lang="en-GB" sz="2000" dirty="0" err="1"/>
              <a:t>lisensi</a:t>
            </a:r>
            <a:r>
              <a:rPr lang="en-GB" sz="2000" dirty="0"/>
              <a:t> dan </a:t>
            </a:r>
            <a:r>
              <a:rPr lang="en-GB" sz="2000" dirty="0" err="1"/>
              <a:t>infrastruktur</a:t>
            </a:r>
            <a:r>
              <a:rPr lang="en-GB" sz="2000" dirty="0"/>
              <a:t>, </a:t>
            </a:r>
            <a:r>
              <a:rPr lang="en-GB" sz="2000" dirty="0" err="1"/>
              <a:t>fokus</a:t>
            </a:r>
            <a:r>
              <a:rPr lang="en-GB" sz="2000" dirty="0"/>
              <a:t> </a:t>
            </a:r>
            <a:r>
              <a:rPr lang="en-GB" sz="2000" dirty="0" err="1"/>
              <a:t>utama</a:t>
            </a:r>
            <a:r>
              <a:rPr lang="en-GB" sz="2000" dirty="0"/>
              <a:t> enterprise yang </a:t>
            </a:r>
            <a:r>
              <a:rPr lang="en-GB" sz="2000" dirty="0" err="1"/>
              <a:t>sudah</a:t>
            </a:r>
            <a:r>
              <a:rPr lang="en-GB" sz="2000" dirty="0"/>
              <a:t> </a:t>
            </a:r>
            <a:r>
              <a:rPr lang="en-GB" sz="2000" dirty="0" err="1"/>
              <a:t>besar</a:t>
            </a:r>
            <a:endParaRPr lang="en-GB" sz="2000" dirty="0"/>
          </a:p>
          <a:p>
            <a:pPr marL="457200" indent="-457200">
              <a:buFont typeface="+mj-lt"/>
              <a:buAutoNum type="arabicPeriod"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Keterbatasan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fleksibilitas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skalabilitas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pengembangan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ERP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secara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bertahap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menjadi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tantangan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karena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solusi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kurang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modular dan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adaptif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skala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kecil-menengah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Belum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penelitian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produk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fokus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distributed ERP yang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dapat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dijalankan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perangkat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low cost dan low power,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padahal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penting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menyesuaikan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kebutuhan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keterbatasan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UMKM di Indonesia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3097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7A8A-06B5-5427-318E-8703277E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1916A-FE7D-BA17-A594-6BD0CA49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Biaya</a:t>
            </a:r>
            <a:r>
              <a:rPr lang="en-GB" dirty="0"/>
              <a:t> </a:t>
            </a:r>
            <a:r>
              <a:rPr lang="en-GB" dirty="0" err="1"/>
              <a:t>Digitalisasi</a:t>
            </a:r>
            <a:r>
              <a:rPr lang="en-GB" dirty="0"/>
              <a:t> </a:t>
            </a:r>
            <a:r>
              <a:rPr lang="en-GB" dirty="0" err="1"/>
              <a:t>Menjadi</a:t>
            </a:r>
            <a:r>
              <a:rPr lang="en-GB" dirty="0"/>
              <a:t> </a:t>
            </a:r>
            <a:r>
              <a:rPr lang="en-GB" dirty="0" err="1"/>
              <a:t>Hambatan</a:t>
            </a:r>
            <a:r>
              <a:rPr lang="en-GB" dirty="0"/>
              <a:t> Utama pada UMKM</a:t>
            </a:r>
          </a:p>
          <a:p>
            <a:r>
              <a:rPr lang="sv-SE" dirty="0"/>
              <a:t>Keterbatasan Fleksibilitas dan Skalabilitas dalam Pengembangan ERP secara Bertahap</a:t>
            </a:r>
          </a:p>
          <a:p>
            <a:r>
              <a:rPr lang="en-GB" dirty="0"/>
              <a:t>Tidak </a:t>
            </a:r>
            <a:r>
              <a:rPr lang="en-GB" dirty="0" err="1"/>
              <a:t>ada</a:t>
            </a:r>
            <a:r>
              <a:rPr lang="en-GB" dirty="0"/>
              <a:t> </a:t>
            </a:r>
            <a:r>
              <a:rPr lang="en-GB" dirty="0" err="1"/>
              <a:t>penelitian</a:t>
            </a:r>
            <a:r>
              <a:rPr lang="en-GB" dirty="0"/>
              <a:t> </a:t>
            </a:r>
            <a:r>
              <a:rPr lang="en-GB" dirty="0" err="1"/>
              <a:t>atau</a:t>
            </a:r>
            <a:r>
              <a:rPr lang="en-GB" dirty="0"/>
              <a:t> </a:t>
            </a:r>
            <a:r>
              <a:rPr lang="en-GB" dirty="0" err="1"/>
              <a:t>produk</a:t>
            </a:r>
            <a:r>
              <a:rPr lang="en-GB" dirty="0"/>
              <a:t> </a:t>
            </a:r>
            <a:r>
              <a:rPr lang="en-US" dirty="0" err="1"/>
              <a:t>terkait</a:t>
            </a:r>
            <a:r>
              <a:rPr lang="en-US" dirty="0"/>
              <a:t> Distributed ERP pada low cost  and low power devices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32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B107-2BF7-F34E-5152-B7E52531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Solusi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ajukan</a:t>
            </a:r>
            <a:r>
              <a:rPr lang="en-US" dirty="0"/>
              <a:t> (PoC)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C5843-9609-CD42-E812-EF7F9A2B2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24086"/>
            <a:ext cx="10210800" cy="388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4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7255-12D3-DD2C-9C5E-ECAF9F80A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7CC3-1165-31D8-50F3-92CE7B31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Solusi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ajukan</a:t>
            </a:r>
            <a:r>
              <a:rPr lang="en-US" dirty="0"/>
              <a:t> (PoC)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BBAD6CA-C29B-6297-AA22-B1C2F7531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55" y="1319213"/>
            <a:ext cx="11788689" cy="488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03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C550-7A22-A778-0D8F-DE5AEEFB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3938-CBC3-C839-8839-A663D104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Solusi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ajukan</a:t>
            </a:r>
            <a:r>
              <a:rPr lang="en-US" dirty="0"/>
              <a:t> (PoC)</a:t>
            </a: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2034BE-C016-C3A6-EA28-7F1D4C7D9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98" y="1485900"/>
            <a:ext cx="11390203" cy="446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02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AEF4-1E10-095F-3E85-B5A7CD34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konsep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3B1CE-9179-1995-8032-48F667AC1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value chain</a:t>
            </a:r>
          </a:p>
          <a:p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layered SOA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dipisahkan</a:t>
            </a:r>
            <a:r>
              <a:rPr lang="en-US" dirty="0"/>
              <a:t> </a:t>
            </a:r>
            <a:r>
              <a:rPr lang="en-US" dirty="0" err="1"/>
              <a:t>permodul</a:t>
            </a:r>
            <a:r>
              <a:rPr lang="en-US" dirty="0"/>
              <a:t> dan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microservice architecture</a:t>
            </a:r>
          </a:p>
          <a:p>
            <a:r>
              <a:rPr lang="en-GB" dirty="0" err="1"/>
              <a:t>Kelebihan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Permodul</a:t>
            </a:r>
            <a:r>
              <a:rPr lang="en-GB" dirty="0"/>
              <a:t> </a:t>
            </a:r>
            <a:r>
              <a:rPr lang="en-GB" dirty="0" err="1"/>
              <a:t>bersifat</a:t>
            </a:r>
            <a:r>
              <a:rPr lang="en-GB" dirty="0"/>
              <a:t> </a:t>
            </a:r>
            <a:r>
              <a:rPr lang="en-GB" dirty="0" err="1"/>
              <a:t>independen</a:t>
            </a:r>
            <a:r>
              <a:rPr lang="en-GB" dirty="0"/>
              <a:t> </a:t>
            </a:r>
            <a:r>
              <a:rPr lang="en-GB" dirty="0" err="1"/>
              <a:t>namun</a:t>
            </a:r>
            <a:r>
              <a:rPr lang="en-GB" dirty="0"/>
              <a:t> </a:t>
            </a:r>
            <a:r>
              <a:rPr lang="en-GB" dirty="0" err="1"/>
              <a:t>memiliki</a:t>
            </a:r>
            <a:r>
              <a:rPr lang="en-GB" dirty="0"/>
              <a:t> </a:t>
            </a:r>
            <a:r>
              <a:rPr lang="en-GB" dirty="0" err="1"/>
              <a:t>Interoperabilitas</a:t>
            </a:r>
            <a:r>
              <a:rPr lang="en-GB" dirty="0"/>
              <a:t> </a:t>
            </a:r>
            <a:r>
              <a:rPr lang="en-GB" dirty="0" err="1"/>
              <a:t>cukup</a:t>
            </a:r>
            <a:r>
              <a:rPr lang="en-GB" dirty="0"/>
              <a:t> </a:t>
            </a:r>
            <a:r>
              <a:rPr lang="en-GB" dirty="0" err="1"/>
              <a:t>tinggi</a:t>
            </a:r>
            <a:r>
              <a:rPr lang="en-GB" dirty="0"/>
              <a:t>. </a:t>
            </a:r>
            <a:r>
              <a:rPr lang="en-GB" dirty="0" err="1"/>
              <a:t>Sehingga</a:t>
            </a:r>
            <a:r>
              <a:rPr lang="en-GB" dirty="0"/>
              <a:t>,</a:t>
            </a:r>
          </a:p>
          <a:p>
            <a:pPr lvl="1"/>
            <a:r>
              <a:rPr lang="en-GB" dirty="0"/>
              <a:t>ERP </a:t>
            </a:r>
            <a:r>
              <a:rPr lang="en-GB" dirty="0" err="1"/>
              <a:t>bisa</a:t>
            </a:r>
            <a:r>
              <a:rPr lang="en-GB" dirty="0"/>
              <a:t> </a:t>
            </a:r>
            <a:r>
              <a:rPr lang="en-GB" dirty="0" err="1"/>
              <a:t>dibuat</a:t>
            </a:r>
            <a:r>
              <a:rPr lang="en-GB" dirty="0"/>
              <a:t> </a:t>
            </a:r>
            <a:r>
              <a:rPr lang="en-GB" dirty="0" err="1"/>
              <a:t>berdasarkan</a:t>
            </a:r>
            <a:r>
              <a:rPr lang="en-GB" dirty="0"/>
              <a:t> </a:t>
            </a:r>
            <a:r>
              <a:rPr lang="en-GB" dirty="0" err="1"/>
              <a:t>modul</a:t>
            </a:r>
            <a:r>
              <a:rPr lang="en-GB" dirty="0"/>
              <a:t> yang </a:t>
            </a:r>
            <a:r>
              <a:rPr lang="en-GB" dirty="0" err="1"/>
              <a:t>dibutuhkan</a:t>
            </a:r>
            <a:r>
              <a:rPr lang="en-GB" dirty="0"/>
              <a:t> </a:t>
            </a:r>
            <a:r>
              <a:rPr lang="en-GB" dirty="0" err="1"/>
              <a:t>dulu</a:t>
            </a:r>
            <a:r>
              <a:rPr lang="en-GB" dirty="0"/>
              <a:t>. </a:t>
            </a:r>
            <a:r>
              <a:rPr lang="en-GB" dirty="0" err="1"/>
              <a:t>Sehingga</a:t>
            </a:r>
            <a:r>
              <a:rPr lang="en-GB" dirty="0"/>
              <a:t>,</a:t>
            </a:r>
          </a:p>
          <a:p>
            <a:pPr lvl="1"/>
            <a:r>
              <a:rPr lang="en-GB" dirty="0" err="1"/>
              <a:t>Kebutuhan</a:t>
            </a:r>
            <a:r>
              <a:rPr lang="en-GB" dirty="0"/>
              <a:t> hardware </a:t>
            </a:r>
            <a:r>
              <a:rPr lang="en-GB" dirty="0" err="1"/>
              <a:t>dapat</a:t>
            </a:r>
            <a:r>
              <a:rPr lang="en-GB" dirty="0"/>
              <a:t> </a:t>
            </a:r>
            <a:r>
              <a:rPr lang="en-GB" dirty="0" err="1"/>
              <a:t>disesuaikan</a:t>
            </a:r>
            <a:r>
              <a:rPr lang="en-GB" dirty="0"/>
              <a:t> dan </a:t>
            </a:r>
            <a:r>
              <a:rPr lang="en-GB" dirty="0" err="1"/>
              <a:t>memudahkan</a:t>
            </a:r>
            <a:r>
              <a:rPr lang="en-GB" dirty="0"/>
              <a:t> horizontal </a:t>
            </a:r>
            <a:r>
              <a:rPr lang="en-GB" dirty="0" err="1"/>
              <a:t>scalling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501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910F-483C-995D-930B-9058244B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Perbandingan</a:t>
            </a:r>
            <a:r>
              <a:rPr lang="en-US" dirty="0"/>
              <a:t> Solusi hardware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D3346-A227-329D-162D-7689D7CE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91017"/>
            <a:ext cx="4480757" cy="1746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58C5D-C570-B7B0-0030-440CA2183512}"/>
              </a:ext>
            </a:extLst>
          </p:cNvPr>
          <p:cNvSpPr txBox="1"/>
          <p:nvPr/>
        </p:nvSpPr>
        <p:spPr>
          <a:xfrm>
            <a:off x="838200" y="1690688"/>
            <a:ext cx="4240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VPS </a:t>
            </a:r>
            <a:r>
              <a:rPr lang="en-US" dirty="0" err="1"/>
              <a:t>hostinger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AMD </a:t>
            </a:r>
            <a:r>
              <a:rPr lang="en-US" dirty="0" err="1"/>
              <a:t>Epyc</a:t>
            </a:r>
            <a:r>
              <a:rPr lang="en-US" dirty="0"/>
              <a:t> (2.7/5.3 </a:t>
            </a:r>
            <a:r>
              <a:rPr lang="en-US" dirty="0" err="1"/>
              <a:t>Ghz</a:t>
            </a:r>
            <a:r>
              <a:rPr lang="en-US" dirty="0"/>
              <a:t>) shared 2 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 8gb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100 Gb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3CA7F-3CAA-800A-64BF-3A0E4961A4B8}"/>
              </a:ext>
            </a:extLst>
          </p:cNvPr>
          <p:cNvSpPr txBox="1"/>
          <p:nvPr/>
        </p:nvSpPr>
        <p:spPr>
          <a:xfrm>
            <a:off x="6096000" y="1717168"/>
            <a:ext cx="373775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 </a:t>
            </a:r>
            <a:r>
              <a:rPr lang="en-US" dirty="0" err="1"/>
              <a:t>fisik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Prosesor</a:t>
            </a:r>
            <a:r>
              <a:rPr lang="en-US" dirty="0"/>
              <a:t> intel </a:t>
            </a:r>
            <a:r>
              <a:rPr lang="en-GB" dirty="0"/>
              <a:t>XEON E5 2673 V4 \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20-cores 40-threads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2.3/3.3Ghz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TDP 135 Watt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AMD EPYC 7282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16-Core 32-Threads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2.8GHZ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TDP 120 Watt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51F5D1-465C-A367-9E48-41ABA8BF11FA}"/>
              </a:ext>
            </a:extLst>
          </p:cNvPr>
          <p:cNvSpPr txBox="1"/>
          <p:nvPr/>
        </p:nvSpPr>
        <p:spPr>
          <a:xfrm>
            <a:off x="838199" y="4856489"/>
            <a:ext cx="33259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Masalahnya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perbulan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mahal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resource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lainnya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8A0AD7-2547-133B-05BD-E5DD24E90A0B}"/>
              </a:ext>
            </a:extLst>
          </p:cNvPr>
          <p:cNvSpPr txBox="1"/>
          <p:nvPr/>
        </p:nvSpPr>
        <p:spPr>
          <a:xfrm>
            <a:off x="6096000" y="4856489"/>
            <a:ext cx="40084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Masalahnya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Terlalu</a:t>
            </a:r>
            <a:r>
              <a:rPr lang="en-US" dirty="0"/>
              <a:t> overkill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TDP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besar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infrastrukturnya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mahal</a:t>
            </a:r>
          </a:p>
        </p:txBody>
      </p:sp>
    </p:spTree>
    <p:extLst>
      <p:ext uri="{BB962C8B-B14F-4D97-AF65-F5344CB8AC3E}">
        <p14:creationId xmlns:p14="http://schemas.microsoft.com/office/powerpoint/2010/main" val="271812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E4360-E097-D8F8-0E99-AB5E7345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0C4-6D68-8842-5720-CFB6D674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Perbandingan</a:t>
            </a:r>
            <a:r>
              <a:rPr lang="en-US" dirty="0"/>
              <a:t> Solusi hardware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3A0C3-367E-A075-A91E-F8F121AF4714}"/>
              </a:ext>
            </a:extLst>
          </p:cNvPr>
          <p:cNvSpPr txBox="1"/>
          <p:nvPr/>
        </p:nvSpPr>
        <p:spPr>
          <a:xfrm>
            <a:off x="838200" y="1690688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 Pi 5: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Rockchip</a:t>
            </a:r>
            <a:r>
              <a:rPr lang="en-US" dirty="0"/>
              <a:t> </a:t>
            </a:r>
            <a:r>
              <a:rPr lang="en-GB" dirty="0"/>
              <a:t>RK3588S 8- core (4xCortex-A76 @ 2.4 </a:t>
            </a:r>
            <a:r>
              <a:rPr lang="en-GB" dirty="0" err="1"/>
              <a:t>Ghz</a:t>
            </a:r>
            <a:r>
              <a:rPr lang="en-GB" dirty="0"/>
              <a:t> and 4xCortex-A55 @ 1.8GHz)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 4/8/16gb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 NVME/ECC/SD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IOT pins and </a:t>
            </a:r>
            <a:r>
              <a:rPr lang="en-GB" dirty="0"/>
              <a:t>MIPI D-PHY TX 4Lane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Type-C power supply, 5V @ 4A (20w total)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E1959-A51D-BEBD-EA11-6C2A4A7B0D0C}"/>
              </a:ext>
            </a:extLst>
          </p:cNvPr>
          <p:cNvSpPr txBox="1"/>
          <p:nvPr/>
        </p:nvSpPr>
        <p:spPr>
          <a:xfrm>
            <a:off x="6096000" y="1717168"/>
            <a:ext cx="528144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bekas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custom: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Ryzen 5 2600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6 cores 12 threads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3.3/3.8Ghz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TDP 65W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Bisa di </a:t>
            </a:r>
            <a:r>
              <a:rPr lang="en-US" dirty="0" err="1"/>
              <a:t>undervolt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A520m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Presiksi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Listrik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ssd</a:t>
            </a:r>
            <a:r>
              <a:rPr lang="en-US" dirty="0"/>
              <a:t> dan ram: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Idle 35-50w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Max 70-85w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B857B-6601-F97A-5555-3E165167E648}"/>
              </a:ext>
            </a:extLst>
          </p:cNvPr>
          <p:cNvSpPr txBox="1"/>
          <p:nvPr/>
        </p:nvSpPr>
        <p:spPr>
          <a:xfrm>
            <a:off x="838200" y="4135220"/>
            <a:ext cx="5257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Harga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full build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2 </a:t>
            </a:r>
            <a:r>
              <a:rPr lang="en-US" dirty="0" err="1"/>
              <a:t>juta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Kelebihan</a:t>
            </a:r>
            <a:r>
              <a:rPr lang="en-US" dirty="0"/>
              <a:t> orange pi sangat </a:t>
            </a:r>
            <a:r>
              <a:rPr lang="en-US" dirty="0" err="1"/>
              <a:t>efisien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Kelebihan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devais</a:t>
            </a:r>
            <a:r>
              <a:rPr lang="en-US" dirty="0"/>
              <a:t>) </a:t>
            </a:r>
            <a:r>
              <a:rPr lang="en-US" dirty="0" err="1"/>
              <a:t>bekas</a:t>
            </a:r>
            <a:r>
              <a:rPr lang="en-US" dirty="0"/>
              <a:t> </a:t>
            </a:r>
            <a:r>
              <a:rPr lang="en-US" dirty="0" err="1"/>
              <a:t>kostumisasi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cpu</a:t>
            </a:r>
            <a:r>
              <a:rPr lang="en-US" dirty="0"/>
              <a:t> power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Solusi lain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mini pc </a:t>
            </a:r>
            <a:r>
              <a:rPr lang="en-US" dirty="0" err="1"/>
              <a:t>dengan</a:t>
            </a:r>
            <a:r>
              <a:rPr lang="en-US" dirty="0"/>
              <a:t> intel Celeron n100</a:t>
            </a:r>
          </a:p>
        </p:txBody>
      </p:sp>
    </p:spTree>
    <p:extLst>
      <p:ext uri="{BB962C8B-B14F-4D97-AF65-F5344CB8AC3E}">
        <p14:creationId xmlns:p14="http://schemas.microsoft.com/office/powerpoint/2010/main" val="4249922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448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Proof of Concept Modular ERP on low cost and low power devices</vt:lpstr>
      <vt:lpstr>Alur berpikir</vt:lpstr>
      <vt:lpstr>Masalah</vt:lpstr>
      <vt:lpstr>Contoh Solusi yang saya ajukan (PoC)</vt:lpstr>
      <vt:lpstr>Contoh Solusi yang saya ajukan (PoC)</vt:lpstr>
      <vt:lpstr>Contoh Solusi yang saya ajukan (PoC)</vt:lpstr>
      <vt:lpstr>Cara kerja konsep</vt:lpstr>
      <vt:lpstr>Perbandingan Solusi hardware</vt:lpstr>
      <vt:lpstr>Perbandingan Solusi hardware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Eldwin Pradipta</dc:creator>
  <cp:lastModifiedBy>Eldwin Pradipta</cp:lastModifiedBy>
  <cp:revision>2</cp:revision>
  <dcterms:created xsi:type="dcterms:W3CDTF">2025-11-10T06:06:28Z</dcterms:created>
  <dcterms:modified xsi:type="dcterms:W3CDTF">2025-11-10T07:19:49Z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2025-11-10T07:18:37Z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0d3f8ec0-8f98-40db-bd5b-059f85a495c2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